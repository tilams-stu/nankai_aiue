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Host Grotesk"/>
      <p:regular r:id="rId201314"/>
    </p:embeddedFont>
    <p:embeddedFont>
      <p:font typeface="Host Grotesk Medium"/>
      <p:regular r:id="rId201315"/>
    </p:embeddedFont>
    <p:embeddedFont>
      <p:font typeface="Host Grotesk Bold"/>
      <p:regular r:id="rId201316"/>
    </p:embeddedFont>
    <p:embeddedFont>
      <p:font typeface="Roboto"/>
      <p:regular r:id="rId201317"/>
    </p:embeddedFont>
    <p:embeddedFont>
      <p:font typeface="Roboto Medium"/>
      <p:regular r:id="rId201318"/>
    </p:embeddedFont>
    <p:embeddedFont>
      <p:font typeface="Roboto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1.png"/><Relationship Id="rId4" Type="http://schemas.openxmlformats.org/officeDocument/2006/relationships/image" Target="../media/image-1-2.svg"/><Relationship Id="rId5" Type="http://schemas.openxmlformats.org/officeDocument/2006/relationships/image" Target="../media/image-1-1.png"/><Relationship Id="rId6" Type="http://schemas.openxmlformats.org/officeDocument/2006/relationships/image" Target="../media/image-1-2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7.png"/><Relationship Id="rId10" Type="http://schemas.openxmlformats.org/officeDocument/2006/relationships/image" Target="../media/image-1-8.sv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1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881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代码重构：从单页逻辑拆分为五类可维护模块</a:t>
            </a:r>
            <a:endParaRPr lang="zh-CN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24384"/>
            <a:ext cx="86089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研究设计被落实为清晰的状态模型、业务服务与跨边界契约。</a:t>
            </a:r>
            <a:endParaRPr lang="zh-CN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489472"/>
            <a:ext cx="1873672" cy="14310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4855" y="1618208"/>
            <a:ext cx="161619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src/app/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24855" y="1936031"/>
            <a:ext cx="1616199" cy="85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850"/>
              </a:spcAft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浏览器运行时编排</a:t>
            </a:r>
            <a:endParaRPr lang="zh-CN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chatRuntime · sessionRuntime · uploadRuntime</a:t>
            </a:r>
            <a:endParaRPr lang="zh-CN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93764" y="1489472"/>
            <a:ext cx="1873672" cy="14310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622500" y="1618208"/>
            <a:ext cx="161619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src/domain/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622500" y="1936031"/>
            <a:ext cx="1616199" cy="669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850"/>
              </a:spcAft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非诊断状态模型</a:t>
            </a:r>
            <a:endParaRPr lang="zh-CN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会话 · 评估字段 ·                   风险状态 · 报告状态</a:t>
            </a:r>
            <a:endParaRPr lang="zh-CN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91410" y="1489472"/>
            <a:ext cx="1873672" cy="143105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20146" y="1618208"/>
            <a:ext cx="161619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src/services/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620146" y="1936031"/>
            <a:ext cx="1616199" cy="669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850"/>
              </a:spcAft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核心业务逻辑</a:t>
            </a:r>
            <a:endParaRPr lang="zh-CN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轮次理解 · 风险规则 ·             报告自动更新协调器</a:t>
            </a:r>
            <a:endParaRPr lang="zh-CN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44503"/>
            <a:ext cx="2872457" cy="124502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4855" y="3173239"/>
            <a:ext cx="261498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src/contracts/ + src/utils/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24855" y="3491061"/>
            <a:ext cx="2614985" cy="669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850"/>
              </a:spcAft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跨边界数据契约与基础工具</a:t>
            </a:r>
            <a:endParaRPr lang="zh-CN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workflowContract · session snapshot ·            SSE parser</a:t>
            </a:r>
            <a:endParaRPr lang="zh-CN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92550" y="3044503"/>
            <a:ext cx="2872532" cy="124502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621286" y="3173239"/>
            <a:ext cx="261505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src/styles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3621286" y="3491061"/>
            <a:ext cx="2615059" cy="483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850"/>
              </a:spcAft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界面样式标准</a:t>
            </a:r>
            <a:endParaRPr lang="zh-CN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chatService / sessionService …</a:t>
            </a:r>
            <a:endParaRPr lang="zh-CN" sz="950" dirty="0"/>
          </a:p>
        </p:txBody>
      </p:sp>
      <p:sp>
        <p:nvSpPr>
          <p:cNvPr id="19" name="Shape 12"/>
          <p:cNvSpPr/>
          <p:nvPr/>
        </p:nvSpPr>
        <p:spPr>
          <a:xfrm>
            <a:off x="6672486" y="1489472"/>
            <a:ext cx="1980084" cy="843260"/>
          </a:xfrm>
          <a:prstGeom prst="roundRect">
            <a:avLst>
              <a:gd name="adj" fmla="val 6178"/>
            </a:avLst>
          </a:prstGeom>
          <a:solidFill>
            <a:srgbClr val="D9EDF2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96460" y="1669256"/>
            <a:ext cx="155004" cy="12397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075438" y="1632049"/>
            <a:ext cx="1453158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server/ 独立保存服务端代理与密钥，不进入浏览器源码层。</a:t>
            </a:r>
            <a:endParaRPr lang="zh-CN" sz="950" dirty="0"/>
          </a:p>
        </p:txBody>
      </p:sp>
      <p:sp>
        <p:nvSpPr>
          <p:cNvPr id="22" name="Text 14"/>
          <p:cNvSpPr/>
          <p:nvPr/>
        </p:nvSpPr>
        <p:spPr>
          <a:xfrm>
            <a:off x="496119" y="4568577"/>
            <a:ext cx="86089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前端交互、领域状态、业务决策和跨边界数据被明确拆分，便于验证和持续迭代。</a:t>
            </a:r>
            <a:endParaRPr lang="zh-CN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5242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同一轮对话产生两类输出：学生反馈与后台评估</a:t>
            </a:r>
            <a:endParaRPr lang="zh-CN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87996"/>
            <a:ext cx="86089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可见层只承担支持性沟通，内部层承担证据、状态与报告更新。</a:t>
            </a:r>
            <a:endParaRPr lang="zh-CN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053084"/>
            <a:ext cx="3839989" cy="768846"/>
          </a:xfrm>
          <a:prstGeom prst="roundRect">
            <a:avLst>
              <a:gd name="adj" fmla="val 6776"/>
            </a:avLst>
          </a:prstGeom>
          <a:solidFill>
            <a:srgbClr val="B6D6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2232868"/>
            <a:ext cx="155004" cy="1239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9071" y="2195661"/>
            <a:ext cx="3313063" cy="483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850"/>
              </a:spcAft>
              <a:buNone/>
            </a:pPr>
            <a:r>
              <a:rPr lang="zh-CN" alt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学生可见层</a:t>
            </a:r>
            <a:endParaRPr lang="zh-CN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src/app/chatRuntime + statusNoticeRuntime</a:t>
            </a:r>
            <a:endParaRPr lang="zh-CN" sz="950" dirty="0"/>
          </a:p>
        </p:txBody>
      </p:sp>
      <p:sp>
        <p:nvSpPr>
          <p:cNvPr id="7" name="Text 4"/>
          <p:cNvSpPr/>
          <p:nvPr/>
        </p:nvSpPr>
        <p:spPr>
          <a:xfrm>
            <a:off x="496119" y="2961456"/>
            <a:ext cx="3839989" cy="64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支持性自然回复</a:t>
            </a:r>
            <a:endParaRPr lang="zh-CN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中性总结与非诊断边界</a:t>
            </a:r>
            <a:endParaRPr lang="zh-CN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必要的现实支持资源</a:t>
            </a:r>
            <a:endParaRPr lang="zh-CN" sz="950" dirty="0"/>
          </a:p>
        </p:txBody>
      </p:sp>
      <p:sp>
        <p:nvSpPr>
          <p:cNvPr id="8" name="Shape 5"/>
          <p:cNvSpPr/>
          <p:nvPr/>
        </p:nvSpPr>
        <p:spPr>
          <a:xfrm>
            <a:off x="4817269" y="2053084"/>
            <a:ext cx="3839989" cy="768846"/>
          </a:xfrm>
          <a:prstGeom prst="roundRect">
            <a:avLst>
              <a:gd name="adj" fmla="val 6776"/>
            </a:avLst>
          </a:prstGeom>
          <a:solidFill>
            <a:srgbClr val="D9EDF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243" y="2232868"/>
            <a:ext cx="155004" cy="1239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20221" y="2195661"/>
            <a:ext cx="3313063" cy="483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850"/>
              </a:spcAft>
              <a:buNone/>
            </a:pPr>
            <a:r>
              <a:rPr lang="zh-CN" alt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后台评估层</a:t>
            </a:r>
            <a:endParaRPr lang="zh-CN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assessmentState + safetyRule + reportDraft</a:t>
            </a:r>
            <a:endParaRPr lang="zh-CN" sz="950" dirty="0"/>
          </a:p>
        </p:txBody>
      </p:sp>
      <p:sp>
        <p:nvSpPr>
          <p:cNvPr id="11" name="Text 7"/>
          <p:cNvSpPr/>
          <p:nvPr/>
        </p:nvSpPr>
        <p:spPr>
          <a:xfrm>
            <a:off x="4817269" y="2961456"/>
            <a:ext cx="3839989" cy="64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结构化字段与字段状态</a:t>
            </a:r>
            <a:endParaRPr lang="zh-CN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原始证据与风险依据</a:t>
            </a:r>
            <a:endParaRPr lang="zh-CN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信息缺口、报告版本与上传状态</a:t>
            </a:r>
            <a:endParaRPr lang="zh-CN" sz="950" dirty="0"/>
          </a:p>
        </p:txBody>
      </p:sp>
      <p:sp>
        <p:nvSpPr>
          <p:cNvPr id="12" name="Shape 8"/>
          <p:cNvSpPr/>
          <p:nvPr/>
        </p:nvSpPr>
        <p:spPr>
          <a:xfrm>
            <a:off x="496119" y="3820195"/>
            <a:ext cx="8151763" cy="14288"/>
          </a:xfrm>
          <a:prstGeom prst="roundRect">
            <a:avLst>
              <a:gd name="adj" fmla="val 49998"/>
            </a:avLst>
          </a:prstGeom>
          <a:solidFill>
            <a:srgbClr val="384653">
              <a:alpha val="5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496119" y="4004965"/>
            <a:ext cx="86089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完整报告、内部风险状态与工作流 payload 不向学生展示；后台报告是带证据与信息缺口的结构化记录。</a:t>
            </a:r>
            <a:endParaRPr lang="zh-CN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4686"/>
            <a:ext cx="8151763" cy="320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一轮对话同时驱动学生回复与后台报告更新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835744"/>
            <a:ext cx="8608963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zh-CN" altLang="en-US" sz="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一次学生对话交互，同时触发面向学生的即时反馈与后台结构化报告的更新流程。</a:t>
            </a:r>
            <a:endParaRPr lang="zh-CN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675" y="1072232"/>
            <a:ext cx="6254651" cy="35182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4686151"/>
            <a:ext cx="8608963" cy="112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878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报告自动更新由状态指纹决定，而不是由聊天结束语触发</a:t>
            </a:r>
            <a:endParaRPr lang="zh-CN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191890"/>
            <a:ext cx="2910036" cy="1152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54" y="1330151"/>
            <a:ext cx="263351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状态变化</a:t>
            </a:r>
            <a:endParaRPr lang="zh-CN" sz="1200" dirty="0"/>
          </a:p>
        </p:txBody>
      </p:sp>
      <p:sp>
        <p:nvSpPr>
          <p:cNvPr id="5" name="Text 2"/>
          <p:cNvSpPr/>
          <p:nvPr/>
        </p:nvSpPr>
        <p:spPr>
          <a:xfrm>
            <a:off x="758354" y="1647974"/>
            <a:ext cx="2633514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学生本人新增有效表达</a:t>
            </a:r>
            <a:endParaRPr lang="zh-CN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或安全状态变化</a:t>
            </a:r>
            <a:endParaRPr lang="zh-CN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或补充量表完成</a:t>
            </a:r>
            <a:endParaRPr lang="zh-CN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154" y="2468314"/>
            <a:ext cx="2724001" cy="7803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44389" y="2606576"/>
            <a:ext cx="24474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生成状态指纹</a:t>
            </a:r>
            <a:endParaRPr lang="zh-CN" sz="1200" dirty="0"/>
          </a:p>
        </p:txBody>
      </p:sp>
      <p:sp>
        <p:nvSpPr>
          <p:cNvPr id="8" name="Text 4"/>
          <p:cNvSpPr/>
          <p:nvPr/>
        </p:nvSpPr>
        <p:spPr>
          <a:xfrm>
            <a:off x="944389" y="2924398"/>
            <a:ext cx="244747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学生ID + 评估字段 + 证据片段 + 安全状态</a:t>
            </a:r>
            <a:endParaRPr lang="zh-CN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189" y="3372669"/>
            <a:ext cx="2537966" cy="115245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30424" y="3510930"/>
            <a:ext cx="22614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后台提交</a:t>
            </a:r>
            <a:endParaRPr lang="zh-CN" sz="1200" dirty="0"/>
          </a:p>
        </p:txBody>
      </p:sp>
      <p:sp>
        <p:nvSpPr>
          <p:cNvPr id="11" name="Text 6"/>
          <p:cNvSpPr/>
          <p:nvPr/>
        </p:nvSpPr>
        <p:spPr>
          <a:xfrm>
            <a:off x="1130424" y="3828752"/>
            <a:ext cx="2261443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生成隐藏报告 payload</a:t>
            </a:r>
            <a:endParaRPr lang="zh-CN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Agent 内部工作流</a:t>
            </a:r>
            <a:endParaRPr lang="zh-CN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飞书记录</a:t>
            </a:r>
            <a:endParaRPr lang="zh-CN" sz="950" dirty="0"/>
          </a:p>
        </p:txBody>
      </p:sp>
      <p:sp>
        <p:nvSpPr>
          <p:cNvPr id="12" name="Shape 7"/>
          <p:cNvSpPr/>
          <p:nvPr/>
        </p:nvSpPr>
        <p:spPr>
          <a:xfrm>
            <a:off x="3713485" y="1191890"/>
            <a:ext cx="4939085" cy="1545506"/>
          </a:xfrm>
          <a:prstGeom prst="roundRect">
            <a:avLst>
              <a:gd name="adj" fmla="val 3371"/>
            </a:avLst>
          </a:prstGeom>
          <a:solidFill>
            <a:srgbClr val="D9EDF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7459" y="1358801"/>
            <a:ext cx="193774" cy="15500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155207" y="1346820"/>
            <a:ext cx="437338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ReportAutoUpdateCoordinator 决策</a:t>
            </a:r>
            <a:endParaRPr lang="zh-CN" sz="1200" dirty="0"/>
          </a:p>
        </p:txBody>
      </p:sp>
      <p:sp>
        <p:nvSpPr>
          <p:cNvPr id="15" name="Text 9"/>
          <p:cNvSpPr/>
          <p:nvPr/>
        </p:nvSpPr>
        <p:spPr>
          <a:xfrm>
            <a:off x="4155207" y="1664643"/>
            <a:ext cx="4373389" cy="930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没有学生ID：不派发</a:t>
            </a:r>
            <a:endParaRPr lang="zh-CN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指纹未变化：</a:t>
            </a:r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9AA7A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不重复派发</a:t>
            </a:r>
            <a:endParaRPr lang="zh-CN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b="1" dirty="0">
                <a:solidFill>
                  <a:srgbClr val="0B4F4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首次有效证据：创建报告</a:t>
            </a:r>
            <a:endParaRPr lang="zh-CN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b="1" dirty="0">
                <a:solidFill>
                  <a:srgbClr val="0B4F4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存在新证据：更新原报告</a:t>
            </a:r>
            <a:endParaRPr lang="zh-CN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b="1" dirty="0">
                <a:solidFill>
                  <a:srgbClr val="0B4F4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会话结束：最终更新</a:t>
            </a:r>
            <a:endParaRPr lang="zh-CN" sz="950" dirty="0"/>
          </a:p>
        </p:txBody>
      </p:sp>
      <p:sp>
        <p:nvSpPr>
          <p:cNvPr id="16" name="Shape 10"/>
          <p:cNvSpPr/>
          <p:nvPr/>
        </p:nvSpPr>
        <p:spPr>
          <a:xfrm>
            <a:off x="3713485" y="2907878"/>
            <a:ext cx="4939085" cy="14288"/>
          </a:xfrm>
          <a:prstGeom prst="roundRect">
            <a:avLst>
              <a:gd name="adj" fmla="val 49998"/>
            </a:avLst>
          </a:prstGeom>
          <a:solidFill>
            <a:srgbClr val="384653">
              <a:alpha val="50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3713485" y="3092648"/>
            <a:ext cx="539628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同一会话新增或更正信息时，系统更新原记录，而非重复创建记录。</a:t>
            </a:r>
            <a:endParaRPr lang="zh-CN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21729"/>
            <a:ext cx="743992" cy="188565"/>
          </a:xfrm>
          <a:prstGeom prst="roundRect">
            <a:avLst>
              <a:gd name="adj" fmla="val 2210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658937"/>
            <a:ext cx="1052364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三周工作全景</a:t>
            </a:r>
            <a:endParaRPr lang="zh-CN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85985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三周工作 四条主线</a:t>
            </a:r>
            <a:endParaRPr lang="zh-CN" sz="2400" dirty="0"/>
          </a:p>
        </p:txBody>
      </p:sp>
      <p:sp>
        <p:nvSpPr>
          <p:cNvPr id="5" name="Shape 3"/>
          <p:cNvSpPr/>
          <p:nvPr/>
        </p:nvSpPr>
        <p:spPr>
          <a:xfrm>
            <a:off x="496119" y="1433438"/>
            <a:ext cx="4013895" cy="1170608"/>
          </a:xfrm>
          <a:prstGeom prst="roundRect">
            <a:avLst>
              <a:gd name="adj" fmla="val 445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4855" y="1562174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研究线</a:t>
            </a:r>
            <a:endParaRPr lang="zh-CN" sz="1200" dirty="0"/>
          </a:p>
        </p:txBody>
      </p:sp>
      <p:sp>
        <p:nvSpPr>
          <p:cNvPr id="7" name="Text 5"/>
          <p:cNvSpPr/>
          <p:nvPr/>
        </p:nvSpPr>
        <p:spPr>
          <a:xfrm>
            <a:off x="624855" y="1830437"/>
            <a:ext cx="3756422" cy="64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整理 11 份访谈材料</a:t>
            </a:r>
            <a:endParaRPr lang="zh-CN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完成 183 条编码</a:t>
            </a:r>
            <a:endParaRPr lang="zh-CN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提炼 20 项系统需求</a:t>
            </a:r>
            <a:endParaRPr lang="zh-CN" sz="950" dirty="0"/>
          </a:p>
        </p:txBody>
      </p:sp>
      <p:sp>
        <p:nvSpPr>
          <p:cNvPr id="8" name="Shape 6"/>
          <p:cNvSpPr/>
          <p:nvPr/>
        </p:nvSpPr>
        <p:spPr>
          <a:xfrm>
            <a:off x="4633987" y="1433438"/>
            <a:ext cx="4013895" cy="1170608"/>
          </a:xfrm>
          <a:prstGeom prst="roundRect">
            <a:avLst>
              <a:gd name="adj" fmla="val 445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62723" y="1562174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设计线</a:t>
            </a:r>
            <a:endParaRPr lang="zh-CN" sz="1200" dirty="0"/>
          </a:p>
        </p:txBody>
      </p:sp>
      <p:sp>
        <p:nvSpPr>
          <p:cNvPr id="10" name="Text 8"/>
          <p:cNvSpPr/>
          <p:nvPr/>
        </p:nvSpPr>
        <p:spPr>
          <a:xfrm>
            <a:off x="4762723" y="1830437"/>
            <a:ext cx="3756422" cy="64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D0-D12 / C1-C5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六项设计原则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报告与数据边界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6119" y="2728020"/>
            <a:ext cx="4013895" cy="1170608"/>
          </a:xfrm>
          <a:prstGeom prst="roundRect">
            <a:avLst>
              <a:gd name="adj" fmla="val 445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855" y="2856756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工程线</a:t>
            </a:r>
            <a:endParaRPr lang="zh-CN" sz="1200" dirty="0"/>
          </a:p>
        </p:txBody>
      </p:sp>
      <p:sp>
        <p:nvSpPr>
          <p:cNvPr id="13" name="Text 11"/>
          <p:cNvSpPr/>
          <p:nvPr/>
        </p:nvSpPr>
        <p:spPr>
          <a:xfrm>
            <a:off x="624855" y="3125019"/>
            <a:ext cx="3756422" cy="64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src 分层与运行时模块</a:t>
            </a:r>
            <a:endParaRPr lang="zh-CN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对话优先的重构</a:t>
            </a:r>
            <a:endParaRPr lang="zh-CN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报告自动更新协调器</a:t>
            </a:r>
            <a:endParaRPr lang="zh-CN" sz="950" dirty="0"/>
          </a:p>
        </p:txBody>
      </p:sp>
      <p:sp>
        <p:nvSpPr>
          <p:cNvPr id="14" name="Shape 12"/>
          <p:cNvSpPr/>
          <p:nvPr/>
        </p:nvSpPr>
        <p:spPr>
          <a:xfrm>
            <a:off x="4633987" y="2728020"/>
            <a:ext cx="4013895" cy="1170608"/>
          </a:xfrm>
          <a:prstGeom prst="roundRect">
            <a:avLst>
              <a:gd name="adj" fmla="val 445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2723" y="2856756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验证线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4762723" y="3125019"/>
            <a:ext cx="3756422" cy="64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44项自动化测试</a:t>
            </a:r>
            <a:endParaRPr lang="zh-CN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TypeScript与Smoke 检查</a:t>
            </a:r>
            <a:endParaRPr lang="zh-CN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智能体和飞书报告连接验证</a:t>
            </a:r>
            <a:endParaRPr lang="zh-CN" sz="950" dirty="0"/>
          </a:p>
        </p:txBody>
      </p:sp>
      <p:sp>
        <p:nvSpPr>
          <p:cNvPr id="17" name="Shape 15"/>
          <p:cNvSpPr/>
          <p:nvPr/>
        </p:nvSpPr>
        <p:spPr>
          <a:xfrm>
            <a:off x="496119" y="4038154"/>
            <a:ext cx="8151763" cy="483543"/>
          </a:xfrm>
          <a:prstGeom prst="roundRect">
            <a:avLst>
              <a:gd name="adj" fmla="val 10775"/>
            </a:avLst>
          </a:prstGeom>
          <a:solidFill>
            <a:srgbClr val="D9EDF2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4213175"/>
            <a:ext cx="155004" cy="12397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99071" y="4193084"/>
            <a:ext cx="808203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结论：三周工作并非单点功能开发，而是围绕同一研究问题，在四条主线上同步推进，形成从访谈证据到可运行原型的完整链条。</a:t>
            </a:r>
            <a:endParaRPr lang="zh-CN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973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最终版本验证覆盖本地回归、平台联调与同会话记录更新</a:t>
            </a:r>
            <a:endParaRPr lang="zh-CN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85305"/>
            <a:ext cx="86089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验证证明工程链路和报告更新机制可运行，不等同于临床有效性或真实用户研究结论。</a:t>
            </a:r>
            <a:endParaRPr lang="zh-CN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950393"/>
            <a:ext cx="892150" cy="188565"/>
          </a:xfrm>
          <a:prstGeom prst="roundRect">
            <a:avLst>
              <a:gd name="adj" fmla="val 22104"/>
            </a:avLst>
          </a:prstGeom>
          <a:solidFill>
            <a:srgbClr val="D9EDF2"/>
          </a:solidFill>
          <a:ln/>
        </p:spPr>
      </p:sp>
      <p:sp>
        <p:nvSpPr>
          <p:cNvPr id="5" name="Text 3"/>
          <p:cNvSpPr/>
          <p:nvPr/>
        </p:nvSpPr>
        <p:spPr>
          <a:xfrm>
            <a:off x="570533" y="1987600"/>
            <a:ext cx="1200522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ct val="96000"/>
              </a:lnSpc>
              <a:buNone/>
            </a:pPr>
            <a:r>
              <a:rPr lang="zh-CN" alt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本地回归验证</a:t>
            </a:r>
            <a:endParaRPr lang="zh-CN" sz="750" dirty="0"/>
          </a:p>
        </p:txBody>
      </p:sp>
      <p:sp>
        <p:nvSpPr>
          <p:cNvPr id="6" name="Text 4"/>
          <p:cNvSpPr/>
          <p:nvPr/>
        </p:nvSpPr>
        <p:spPr>
          <a:xfrm>
            <a:off x="496119" y="2278484"/>
            <a:ext cx="2487290" cy="1060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自动化测试：44项通过</a:t>
            </a:r>
            <a:endParaRPr lang="zh-CN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TypeScript 类型检查通过</a:t>
            </a:r>
            <a:endParaRPr lang="zh-CN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Smoke 检查通过</a:t>
            </a:r>
            <a:endParaRPr lang="zh-CN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重构后对话回复稳定，不出现兜底覆盖或重复显示</a:t>
            </a:r>
            <a:endParaRPr lang="zh-CN" sz="950" dirty="0"/>
          </a:p>
        </p:txBody>
      </p:sp>
      <p:sp>
        <p:nvSpPr>
          <p:cNvPr id="7" name="Shape 5"/>
          <p:cNvSpPr/>
          <p:nvPr/>
        </p:nvSpPr>
        <p:spPr>
          <a:xfrm>
            <a:off x="3290739" y="1950393"/>
            <a:ext cx="1090538" cy="188565"/>
          </a:xfrm>
          <a:prstGeom prst="roundRect">
            <a:avLst>
              <a:gd name="adj" fmla="val 22104"/>
            </a:avLst>
          </a:prstGeom>
          <a:solidFill>
            <a:srgbClr val="D9EDF2"/>
          </a:solidFill>
          <a:ln/>
        </p:spPr>
      </p:sp>
      <p:sp>
        <p:nvSpPr>
          <p:cNvPr id="8" name="Text 6"/>
          <p:cNvSpPr/>
          <p:nvPr/>
        </p:nvSpPr>
        <p:spPr>
          <a:xfrm>
            <a:off x="3365153" y="1987600"/>
            <a:ext cx="1398910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ct val="96000"/>
              </a:lnSpc>
              <a:buNone/>
            </a:pPr>
            <a:r>
              <a:rPr lang="zh-CN" alt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真实平台链路验证</a:t>
            </a:r>
            <a:endParaRPr lang="zh-CN" sz="750" dirty="0"/>
          </a:p>
        </p:txBody>
      </p:sp>
      <p:sp>
        <p:nvSpPr>
          <p:cNvPr id="9" name="Text 7"/>
          <p:cNvSpPr/>
          <p:nvPr/>
        </p:nvSpPr>
        <p:spPr>
          <a:xfrm>
            <a:off x="3290739" y="2278484"/>
            <a:ext cx="2571899" cy="874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NK-GeniOS Agent 完成多轮 synthetic 对话</a:t>
            </a:r>
            <a:endParaRPr lang="zh-CN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 内部调用 report-to-feishu-yhx</a:t>
            </a:r>
            <a:endParaRPr lang="zh-CN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飞书出现第一条后台报告记录</a:t>
            </a:r>
            <a:endParaRPr lang="zh-CN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工作流、审计与错误路径均保留证据</a:t>
            </a:r>
            <a:endParaRPr lang="zh-CN" sz="950" dirty="0"/>
          </a:p>
        </p:txBody>
      </p:sp>
      <p:sp>
        <p:nvSpPr>
          <p:cNvPr id="10" name="Shape 8"/>
          <p:cNvSpPr/>
          <p:nvPr/>
        </p:nvSpPr>
        <p:spPr>
          <a:xfrm>
            <a:off x="6169968" y="1950393"/>
            <a:ext cx="991344" cy="188565"/>
          </a:xfrm>
          <a:prstGeom prst="roundRect">
            <a:avLst>
              <a:gd name="adj" fmla="val 22104"/>
            </a:avLst>
          </a:prstGeom>
          <a:solidFill>
            <a:srgbClr val="D9EDF2"/>
          </a:solidFill>
          <a:ln/>
        </p:spPr>
      </p:sp>
      <p:sp>
        <p:nvSpPr>
          <p:cNvPr id="11" name="Text 9"/>
          <p:cNvSpPr/>
          <p:nvPr/>
        </p:nvSpPr>
        <p:spPr>
          <a:xfrm>
            <a:off x="6244382" y="1987600"/>
            <a:ext cx="1299716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ct val="96000"/>
              </a:lnSpc>
              <a:buNone/>
            </a:pPr>
            <a:r>
              <a:rPr lang="zh-CN" alt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同会话更新验证</a:t>
            </a:r>
            <a:endParaRPr lang="zh-CN" sz="750" dirty="0"/>
          </a:p>
        </p:txBody>
      </p:sp>
      <p:sp>
        <p:nvSpPr>
          <p:cNvPr id="12" name="Text 10"/>
          <p:cNvSpPr/>
          <p:nvPr/>
        </p:nvSpPr>
        <p:spPr>
          <a:xfrm>
            <a:off x="6169968" y="2278484"/>
            <a:ext cx="2487290" cy="1060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学生补充或更正信息后，后台状态发生变化</a:t>
            </a:r>
            <a:endParaRPr lang="zh-CN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同一 sessionId 对应原飞书记录被更新</a:t>
            </a:r>
            <a:endParaRPr lang="zh-CN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不重复创建记录</a:t>
            </a:r>
            <a:endParaRPr lang="zh-CN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会话结束时完成最终报告更新</a:t>
            </a:r>
            <a:endParaRPr lang="zh-CN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521720"/>
            <a:ext cx="8151763" cy="483543"/>
          </a:xfrm>
          <a:prstGeom prst="roundRect">
            <a:avLst>
              <a:gd name="adj" fmla="val 10775"/>
            </a:avLst>
          </a:prstGeom>
          <a:solidFill>
            <a:srgbClr val="B6D6FC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3696742"/>
            <a:ext cx="155004" cy="12397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99071" y="3676650"/>
            <a:ext cx="808203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验证数据均使用合成身份与合成对话；本页证明系统实现和外部工作流链路，不宣称临床诊断能力或真实学生研究结论。</a:t>
            </a:r>
            <a:endParaRPr lang="zh-CN" sz="950" dirty="0"/>
          </a:p>
        </p:txBody>
      </p:sp>
      <p:sp>
        <p:nvSpPr>
          <p:cNvPr id="16" name="Text 13"/>
          <p:cNvSpPr/>
          <p:nvPr/>
        </p:nvSpPr>
        <p:spPr>
          <a:xfrm>
            <a:off x="496119" y="4144789"/>
            <a:ext cx="8608963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答辩前补入最终运行日期、测试数量、Agent工作流截图、飞书创建与更新对比截图。</a:t>
            </a:r>
            <a:endParaRPr lang="zh-CN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658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演示标准与证据</a:t>
            </a:r>
            <a:endParaRPr lang="zh-CN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22152"/>
            <a:ext cx="86089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本次演示将遵循严格的数据规范，并确保所有关键环节的证据链完整。</a:t>
            </a:r>
            <a:endParaRPr lang="zh-CN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2071688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需保留的演示证据</a:t>
            </a:r>
            <a:endParaRPr lang="zh-CN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2627" y="2404988"/>
            <a:ext cx="186035" cy="1860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9145" y="2405063"/>
            <a:ext cx="352157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 内部工作流调用记录（含 timestamp 与 payload）</a:t>
            </a:r>
            <a:endParaRPr lang="zh-CN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2627" y="3025080"/>
            <a:ext cx="186035" cy="186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9145" y="3025155"/>
            <a:ext cx="352157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飞书首次创建记录的截图或日志</a:t>
            </a:r>
            <a:endParaRPr lang="zh-CN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2627" y="3645173"/>
            <a:ext cx="186035" cy="186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9145" y="3645247"/>
            <a:ext cx="352157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同一记录更新前后的字段对比</a:t>
            </a:r>
            <a:endParaRPr lang="zh-CN" sz="950" dirty="0"/>
          </a:p>
        </p:txBody>
      </p:sp>
      <p:sp>
        <p:nvSpPr>
          <p:cNvPr id="11" name="Text 6"/>
          <p:cNvSpPr/>
          <p:nvPr/>
        </p:nvSpPr>
        <p:spPr>
          <a:xfrm>
            <a:off x="4728046" y="2071688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演示数据规范</a:t>
            </a:r>
            <a:endParaRPr lang="zh-CN" sz="1200" dirty="0"/>
          </a:p>
        </p:txBody>
      </p:sp>
      <p:sp>
        <p:nvSpPr>
          <p:cNvPr id="12" name="Text 7"/>
          <p:cNvSpPr/>
          <p:nvPr/>
        </p:nvSpPr>
        <p:spPr>
          <a:xfrm>
            <a:off x="4728046" y="2389510"/>
            <a:ext cx="3924598" cy="874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全部使用</a:t>
            </a:r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合成身份</a:t>
            </a:r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（非真实学生）</a:t>
            </a:r>
            <a:endParaRPr lang="zh-CN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全部使用</a:t>
            </a:r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合成对话</a:t>
            </a:r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（非真实访谈）</a:t>
            </a:r>
            <a:endParaRPr lang="zh-CN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预留视频与截图位置，</a:t>
            </a:r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不虚构</a:t>
            </a:r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任何截图</a:t>
            </a:r>
            <a:endParaRPr lang="zh-CN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演示重点为</a:t>
            </a:r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记录更新逻辑</a:t>
            </a:r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，而非对话内容本身</a:t>
            </a:r>
            <a:endParaRPr lang="zh-CN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6655"/>
            <a:ext cx="511225" cy="176585"/>
          </a:xfrm>
          <a:prstGeom prst="roundRect">
            <a:avLst>
              <a:gd name="adj" fmla="val 22128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565845" y="421481"/>
            <a:ext cx="828973" cy="10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阶段结论</a:t>
            </a:r>
            <a:endParaRPr lang="zh-CN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06847"/>
            <a:ext cx="8151763" cy="726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本项目完成了从研究发现到可运行原型的转化，下一阶段聚焦外部验证与专业评审</a:t>
            </a:r>
            <a:endParaRPr lang="zh-CN" sz="2250" dirty="0"/>
          </a:p>
        </p:txBody>
      </p:sp>
      <p:sp>
        <p:nvSpPr>
          <p:cNvPr id="5" name="Text 3"/>
          <p:cNvSpPr/>
          <p:nvPr/>
        </p:nvSpPr>
        <p:spPr>
          <a:xfrm>
            <a:off x="496119" y="1497062"/>
            <a:ext cx="8608963" cy="168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zh-CN" alt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三周工作形成完整的研究—设计—工程—验证闭环，当前原型已具备展示核心设计原则的能力，下一阶段需完成外部工作流验证并进入受控测试。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496119" y="1788691"/>
            <a:ext cx="232544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6119" y="1971973"/>
            <a:ext cx="2644527" cy="14288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8" name="Text 6"/>
          <p:cNvSpPr/>
          <p:nvPr/>
        </p:nvSpPr>
        <p:spPr>
          <a:xfrm>
            <a:off x="496119" y="2058665"/>
            <a:ext cx="2644527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访谈研究奠定评估要素与边界</a:t>
            </a:r>
            <a:endParaRPr lang="zh-CN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2305720"/>
            <a:ext cx="2644527" cy="337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zh-CN" alt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 份访谈、183 条编码、20 项需求，为系统设计提供经验依据。</a:t>
            </a:r>
            <a:endParaRPr lang="zh-CN" sz="900" dirty="0"/>
          </a:p>
        </p:txBody>
      </p:sp>
      <p:sp>
        <p:nvSpPr>
          <p:cNvPr id="10" name="Text 8"/>
          <p:cNvSpPr/>
          <p:nvPr/>
        </p:nvSpPr>
        <p:spPr>
          <a:xfrm>
            <a:off x="3249662" y="1788691"/>
            <a:ext cx="232544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9662" y="1971973"/>
            <a:ext cx="2644601" cy="14288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12" name="Text 10"/>
          <p:cNvSpPr/>
          <p:nvPr/>
        </p:nvSpPr>
        <p:spPr>
          <a:xfrm>
            <a:off x="3249662" y="2058665"/>
            <a:ext cx="2644601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需求提炼将研究结论转化为系统约束</a:t>
            </a:r>
            <a:endParaRPr lang="zh-CN" sz="1100" dirty="0"/>
          </a:p>
        </p:txBody>
      </p:sp>
      <p:sp>
        <p:nvSpPr>
          <p:cNvPr id="13" name="Text 11"/>
          <p:cNvSpPr/>
          <p:nvPr/>
        </p:nvSpPr>
        <p:spPr>
          <a:xfrm>
            <a:off x="3249662" y="2305720"/>
            <a:ext cx="2644601" cy="337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zh-CN" alt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研究结论被编码为数据边界、风险规则与报告模板，而非停留在文档层。</a:t>
            </a:r>
            <a:endParaRPr lang="zh-CN" sz="900" dirty="0"/>
          </a:p>
        </p:txBody>
      </p:sp>
      <p:sp>
        <p:nvSpPr>
          <p:cNvPr id="14" name="Text 12"/>
          <p:cNvSpPr/>
          <p:nvPr/>
        </p:nvSpPr>
        <p:spPr>
          <a:xfrm>
            <a:off x="6003280" y="1788691"/>
            <a:ext cx="232544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03280" y="1971973"/>
            <a:ext cx="2644601" cy="14288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16" name="Text 14"/>
          <p:cNvSpPr/>
          <p:nvPr/>
        </p:nvSpPr>
        <p:spPr>
          <a:xfrm>
            <a:off x="6003280" y="2058665"/>
            <a:ext cx="2644601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对话优先重构降低问卷感与机械追问</a:t>
            </a:r>
            <a:endParaRPr lang="zh-CN" sz="1100" dirty="0"/>
          </a:p>
        </p:txBody>
      </p:sp>
      <p:sp>
        <p:nvSpPr>
          <p:cNvPr id="17" name="Text 15"/>
          <p:cNvSpPr/>
          <p:nvPr/>
        </p:nvSpPr>
        <p:spPr>
          <a:xfrm>
            <a:off x="6003280" y="2305720"/>
            <a:ext cx="2644601" cy="337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zh-CN" alt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以自然对话承载评估意图，避免结构化问卷带来的防御反应。</a:t>
            </a:r>
            <a:endParaRPr lang="zh-CN" sz="900" dirty="0"/>
          </a:p>
        </p:txBody>
      </p:sp>
      <p:sp>
        <p:nvSpPr>
          <p:cNvPr id="18" name="Text 16"/>
          <p:cNvSpPr/>
          <p:nvPr/>
        </p:nvSpPr>
        <p:spPr>
          <a:xfrm>
            <a:off x="496119" y="2839938"/>
            <a:ext cx="232544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6119" y="3011612"/>
            <a:ext cx="4021336" cy="14288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20" name="Text 18"/>
          <p:cNvSpPr/>
          <p:nvPr/>
        </p:nvSpPr>
        <p:spPr>
          <a:xfrm>
            <a:off x="496119" y="3109913"/>
            <a:ext cx="4021336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风险规则、证据记录与报告边界保证可追溯性</a:t>
            </a:r>
            <a:endParaRPr lang="zh-CN" sz="1100" dirty="0"/>
          </a:p>
        </p:txBody>
      </p:sp>
      <p:sp>
        <p:nvSpPr>
          <p:cNvPr id="21" name="Text 19"/>
          <p:cNvSpPr/>
          <p:nvPr/>
        </p:nvSpPr>
        <p:spPr>
          <a:xfrm>
            <a:off x="496119" y="3356967"/>
            <a:ext cx="4021336" cy="168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zh-CN" alt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每条后台记录附带原始证据、风险依据与信息缺口，支持专业复核。</a:t>
            </a:r>
            <a:endParaRPr lang="zh-CN" sz="900" dirty="0"/>
          </a:p>
        </p:txBody>
      </p:sp>
      <p:sp>
        <p:nvSpPr>
          <p:cNvPr id="22" name="Text 20"/>
          <p:cNvSpPr/>
          <p:nvPr/>
        </p:nvSpPr>
        <p:spPr>
          <a:xfrm>
            <a:off x="4626471" y="2839938"/>
            <a:ext cx="232544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26471" y="3011612"/>
            <a:ext cx="4021410" cy="14288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24" name="Text 22"/>
          <p:cNvSpPr/>
          <p:nvPr/>
        </p:nvSpPr>
        <p:spPr>
          <a:xfrm>
            <a:off x="4626471" y="3109913"/>
            <a:ext cx="4021410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后台报告创建与更新形成核心闭环</a:t>
            </a:r>
            <a:endParaRPr lang="zh-CN" sz="1100" dirty="0"/>
          </a:p>
        </p:txBody>
      </p:sp>
      <p:sp>
        <p:nvSpPr>
          <p:cNvPr id="25" name="Text 23"/>
          <p:cNvSpPr/>
          <p:nvPr/>
        </p:nvSpPr>
        <p:spPr>
          <a:xfrm>
            <a:off x="4626471" y="3356967"/>
            <a:ext cx="4021410" cy="168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zh-CN" alt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同一会话中记录原地更新，避免信息碎片化与重复记录。</a:t>
            </a:r>
            <a:endParaRPr lang="zh-CN" sz="900" dirty="0"/>
          </a:p>
        </p:txBody>
      </p:sp>
      <p:sp>
        <p:nvSpPr>
          <p:cNvPr id="26" name="Shape 24"/>
          <p:cNvSpPr/>
          <p:nvPr/>
        </p:nvSpPr>
        <p:spPr>
          <a:xfrm>
            <a:off x="412403" y="3712592"/>
            <a:ext cx="4101480" cy="1020961"/>
          </a:xfrm>
          <a:prstGeom prst="roundRect">
            <a:avLst>
              <a:gd name="adj" fmla="val 8201"/>
            </a:avLst>
          </a:prstGeom>
          <a:solidFill>
            <a:srgbClr val="95CCDA"/>
          </a:solidFill>
          <a:ln/>
        </p:spPr>
      </p:sp>
      <p:sp>
        <p:nvSpPr>
          <p:cNvPr id="27" name="Text 25"/>
          <p:cNvSpPr/>
          <p:nvPr/>
        </p:nvSpPr>
        <p:spPr>
          <a:xfrm>
            <a:off x="528638" y="3844826"/>
            <a:ext cx="3869010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下一阶段工作</a:t>
            </a:r>
            <a:endParaRPr lang="zh-CN" sz="1100" dirty="0"/>
          </a:p>
        </p:txBody>
      </p:sp>
      <p:sp>
        <p:nvSpPr>
          <p:cNvPr id="28" name="Text 26"/>
          <p:cNvSpPr/>
          <p:nvPr/>
        </p:nvSpPr>
        <p:spPr>
          <a:xfrm>
            <a:off x="528638" y="4135487"/>
            <a:ext cx="3869010" cy="583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1000"/>
              </a:lnSpc>
              <a:buSzPct val="100000"/>
              <a:buChar char="•"/>
            </a:pPr>
            <a:r>
              <a:rPr lang="zh-CN" alt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开展专业评审（心理学与工程双维度）</a:t>
            </a:r>
            <a:endParaRPr lang="zh-CN" sz="900" dirty="0"/>
          </a:p>
          <a:p>
            <a:pPr algn="l" marL="182880" indent="-182880">
              <a:lnSpc>
                <a:spcPct val="121000"/>
              </a:lnSpc>
              <a:buSzPct val="100000"/>
              <a:buChar char="•"/>
            </a:pPr>
            <a:r>
              <a:rPr lang="zh-CN" alt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受控小范围真实学生测试</a:t>
            </a:r>
            <a:endParaRPr lang="zh-CN" sz="900" dirty="0"/>
          </a:p>
          <a:p>
            <a:pPr algn="l" marL="182880" indent="-182880">
              <a:lnSpc>
                <a:spcPct val="121000"/>
              </a:lnSpc>
              <a:buSzPct val="100000"/>
              <a:buChar char="•"/>
            </a:pPr>
            <a:r>
              <a:rPr lang="zh-CN" alt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隐私伦理审查与合规确认</a:t>
            </a:r>
            <a:endParaRPr lang="zh-CN" sz="900" dirty="0"/>
          </a:p>
        </p:txBody>
      </p:sp>
      <p:sp>
        <p:nvSpPr>
          <p:cNvPr id="29" name="Text 27"/>
          <p:cNvSpPr/>
          <p:nvPr/>
        </p:nvSpPr>
        <p:spPr>
          <a:xfrm>
            <a:off x="4718596" y="3844826"/>
            <a:ext cx="3934048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当前定位声明</a:t>
            </a:r>
            <a:endParaRPr lang="zh-CN" sz="1100" dirty="0"/>
          </a:p>
        </p:txBody>
      </p:sp>
      <p:sp>
        <p:nvSpPr>
          <p:cNvPr id="30" name="Text 28"/>
          <p:cNvSpPr/>
          <p:nvPr/>
        </p:nvSpPr>
        <p:spPr>
          <a:xfrm>
            <a:off x="4718596" y="4135487"/>
            <a:ext cx="3934048" cy="337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zh-CN" alt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本系统当前为</a:t>
            </a:r>
            <a:pPr algn="l" indent="0" marL="0">
              <a:lnSpc>
                <a:spcPct val="121000"/>
              </a:lnSpc>
              <a:buNone/>
            </a:pPr>
            <a:r>
              <a:rPr lang="zh-CN" altLang="en-US" sz="9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研究原型</a:t>
            </a:r>
            <a:pPr algn="l" indent="0" marL="0">
              <a:lnSpc>
                <a:spcPct val="121000"/>
              </a:lnSpc>
              <a:buNone/>
            </a:pPr>
            <a:r>
              <a:rPr lang="zh-CN" alt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，不具备临床诊断功能，不替代专业心理评估，所有结论须在专业评审与受控测试后方可推进。</a:t>
            </a:r>
            <a:endParaRPr lang="zh-CN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2026-08-01T16:02:32Z</dcterms:created>
  <dcterms:modified xsi:type="dcterms:W3CDTF">2026-08-01T16:02:32Z</dcterms:modified>
</cp:coreProperties>
</file>